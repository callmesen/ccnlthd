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73" r:id="rId10"/>
    <p:sldId id="263" r:id="rId11"/>
    <p:sldId id="264" r:id="rId12"/>
    <p:sldId id="265" r:id="rId13"/>
    <p:sldId id="266" r:id="rId14"/>
    <p:sldId id="267" r:id="rId15"/>
    <p:sldId id="274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950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sz="1862" b="0" i="0" u="none" strike="noStrike" baseline="0" dirty="0"/>
              <a:t>Biểu đồ tròn phân bổ số lượng </a:t>
            </a:r>
            <a:r>
              <a:rPr lang="vi-VN" sz="1862" b="0" i="0" u="none" strike="noStrike" baseline="0" dirty="0" err="1"/>
              <a:t>file</a:t>
            </a:r>
            <a:r>
              <a:rPr lang="vi-VN" sz="1862" b="0" i="0" u="none" strike="noStrike" baseline="0" dirty="0"/>
              <a:t> </a:t>
            </a:r>
            <a:r>
              <a:rPr lang="vi-VN" sz="1862" b="0" i="0" u="none" strike="noStrike" baseline="0" dirty="0" err="1"/>
              <a:t>test</a:t>
            </a:r>
            <a:r>
              <a:rPr lang="vi-VN" sz="1862" b="0" i="0" u="none" strike="noStrike" baseline="0" dirty="0"/>
              <a:t>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Trang_tính1!$B$1</c:f>
              <c:strCache>
                <c:ptCount val="1"/>
                <c:pt idx="0">
                  <c:v>Bán hàng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Trang_tính1!$A$2:$A$6</c:f>
              <c:strCache>
                <c:ptCount val="5"/>
                <c:pt idx="0">
                  <c:v>Order Service </c:v>
                </c:pt>
                <c:pt idx="1">
                  <c:v>Inventory Service</c:v>
                </c:pt>
                <c:pt idx="2">
                  <c:v>Product Service</c:v>
                </c:pt>
                <c:pt idx="3">
                  <c:v>Notification Service  </c:v>
                </c:pt>
                <c:pt idx="4">
                  <c:v>Infrastructure Services </c:v>
                </c:pt>
              </c:strCache>
            </c:strRef>
          </c:cat>
          <c:val>
            <c:numRef>
              <c:f>Trang_tính1!$B$2:$B$6</c:f>
              <c:numCache>
                <c:formatCode>General</c:formatCode>
                <c:ptCount val="5"/>
                <c:pt idx="0">
                  <c:v>9</c:v>
                </c:pt>
                <c:pt idx="1">
                  <c:v>7</c:v>
                </c:pt>
                <c:pt idx="2">
                  <c:v>7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69-48DB-99A2-6731983323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284A420-F50C-4C2C-B88E-E6F4EF504B6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3A6D2E-5228-4998-9E24-EFCCA024675E}"/>
              </a:ext>
            </a:extLst>
          </p:cNvPr>
          <p:cNvSpPr/>
          <p:nvPr/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D878C-9930-44AF-AE18-FCA0DAE10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2" y="852055"/>
            <a:ext cx="10380572" cy="258146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D608-1F8D-47BB-B595-43B7BEAC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2" y="3754582"/>
            <a:ext cx="10380572" cy="224443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3C1DA-DAC9-422B-9450-54A7E03B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EE12-F28E-4B03-A404-A8FCAE0F6316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A2B9-3E23-4C08-A5CE-69886121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2E61E-26F7-4369-8F2F-6D3CDF64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DB48DB-8E25-4F2F-8C02-5B793937255F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BA7E3-7313-49C8-A245-A85BDEB13EB3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26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2CCA-8D32-44C3-809A-54D0245B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9041-349C-49F8-B155-6F586287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3261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E088-72B1-425B-B53B-81B13482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0451-8BF9-48B2-8E6A-9E15C833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196E-3A76-4417-BFD8-4400D16E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6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FB183B-99B9-4420-AB2D-0705685105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6DF62B9-1876-4EEB-929D-B46F98265E34}"/>
              </a:ext>
            </a:extLst>
          </p:cNvPr>
          <p:cNvSpPr/>
          <p:nvPr/>
        </p:nvSpPr>
        <p:spPr>
          <a:xfrm>
            <a:off x="0" y="-2"/>
            <a:ext cx="12192000" cy="3862064"/>
          </a:xfrm>
          <a:prstGeom prst="rect">
            <a:avLst/>
          </a:prstGeom>
          <a:ln>
            <a:noFill/>
          </a:ln>
          <a:effectLst>
            <a:outerShdw blurRad="203200" dist="127000" dir="5460000" sx="96000" sy="96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F0E4DD-839A-4BD2-B5FA-FF319E87D037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92C2FB-E558-4132-AAF5-EFCED014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2056"/>
            <a:ext cx="10380572" cy="257694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20424-DA4E-467F-AC0A-D44192A54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7" y="4202832"/>
            <a:ext cx="10395116" cy="178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39F9C-ADA9-4225-9D74-193A8894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217A73C3-B243-44D3-809D-EF8FDFBD85D4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7DEC-B96B-4D69-8B62-5156FDA6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4AC1-9934-43DC-B9AC-322612A7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DA60A-39CD-41D4-8AE5-0FB7FD78559C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0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AF84-4A19-4D9A-9B82-46BCBED4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73DD-26AC-4E69-A17C-538D9C7C6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30C23-A75F-45DF-BCCF-760C533AC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7092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C3974-73EC-4F1B-9E92-0E279ABE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C9B6D3E3-28E2-4380-A113-67698215C5F8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0B3F2-3F28-42A3-9701-A6F01F1B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7A2FC-50E7-4972-9F28-E3AC4EF9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9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5F85-77E6-4F6D-9FFA-5D76201B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872836"/>
            <a:ext cx="10380572" cy="14270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C0DAE-58D1-45D9-9FC4-B0864E33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1" y="2713326"/>
            <a:ext cx="5023424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E63D7-9812-4EA1-A0A2-14D974311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801" y="3706091"/>
            <a:ext cx="5023424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5055B-04A0-47D3-90ED-135025F85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211" y="2713326"/>
            <a:ext cx="5048163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36E6E-8F64-49E6-B57C-86CF92D16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211" y="3706091"/>
            <a:ext cx="5048163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FBEAD-2827-40DA-8338-2D691325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A9EFCB61-04AD-47C9-BF79-2BD8B9CEC07A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4B88D-9C6E-4A88-985C-3ED5057A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B6A32-2D15-425F-B6A9-146AFB5C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14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1B7C-9BD5-4CF8-BAEB-A6CB78D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5F1D3-3353-4FC6-8854-51B0BFFD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35E0C-D585-492F-8146-7493F4086301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26CE6-6BEB-46DB-BD4B-9B8AE89A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1BCCC-8B3F-40B3-91D5-52E53B2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18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C0FBB6-4CCA-4358-9DD5-CDF2173E63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2559A-671A-4FDE-82C3-1CF8CFCF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8390-48B5-49AB-B019-A7C8FB8C31F6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14275-250D-437E-BAF1-5BB3CDE6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93BDE-2A52-4AA7-B222-0F25570E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6B771E-DDF7-430C-9462-BA1D3742C84E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84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F9A0B00-F6ED-4C3A-97DC-C2AF9D62EE8B}"/>
              </a:ext>
            </a:extLst>
          </p:cNvPr>
          <p:cNvSpPr/>
          <p:nvPr/>
        </p:nvSpPr>
        <p:spPr>
          <a:xfrm>
            <a:off x="79067" y="0"/>
            <a:ext cx="4998624" cy="6858000"/>
          </a:xfrm>
          <a:prstGeom prst="rect">
            <a:avLst/>
          </a:prstGeom>
          <a:ln>
            <a:noFill/>
          </a:ln>
          <a:effectLst>
            <a:outerShdw blurRad="228600" dist="1143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3B025FD9-B9EF-4F5C-B67D-3485253B7A6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545CD-A200-4C66-BF9A-9B839D0CE64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10916-EEE9-418C-B24A-EC09A6D2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537" y="872836"/>
            <a:ext cx="4560525" cy="228105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A0F4-FD98-409E-B41A-5F4352C6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781" y="872837"/>
            <a:ext cx="4520593" cy="5140036"/>
          </a:xfrm>
        </p:spPr>
        <p:txBody>
          <a:bodyPr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BF6F-6E7C-4B3F-B205-09361DA58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537" y="3442854"/>
            <a:ext cx="4560525" cy="257694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198D-8500-4277-AA5D-3C3D8FDD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962E767E-8A14-4E70-91B9-2101CBC4D7BD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D219F-027A-4632-9FB0-BD098D56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79253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0C82B-C7DC-434D-8768-DE9D117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8CCC603-9605-46C8-9034-8DAE6AC40DD9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BBF1D9-8F8F-45A3-BDB4-952D0FB20A4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8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BEB8797-B080-41A6-B14E-8DC7F0F27E4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C6C7272-A552-46B3-992F-F5ADD5AA2443}"/>
              </a:ext>
            </a:extLst>
          </p:cNvPr>
          <p:cNvSpPr/>
          <p:nvPr/>
        </p:nvSpPr>
        <p:spPr>
          <a:xfrm>
            <a:off x="-1" y="0"/>
            <a:ext cx="608767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F6AD1-1E6C-46AF-8431-6627180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33" y="858981"/>
            <a:ext cx="4556749" cy="2281052"/>
          </a:xfrm>
        </p:spPr>
        <p:txBody>
          <a:bodyPr anchor="b"/>
          <a:lstStyle>
            <a:lvl1pPr>
              <a:def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A91F9-760E-4CF4-8A03-FA1482C35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59826" y="865909"/>
            <a:ext cx="4582548" cy="512618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9A9D5-BA6E-4C4A-88A0-5BB86958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733" y="3429000"/>
            <a:ext cx="4556749" cy="2590800"/>
          </a:xfrm>
        </p:spPr>
        <p:txBody>
          <a:bodyPr/>
          <a:lstStyle>
            <a:lvl1pPr marL="0" indent="0"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6899E-70A1-4EFB-87EC-6C4F3BC0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01AF0C4B-5A4A-45CA-ABEC-10F107160D33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4B05-4931-4BC8-BD43-9E6B944B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ABE5D-7EA4-4D33-B23E-52E640CB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F0DB5EA-94EC-4DB5-B8E5-B454005C1552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99FF82-B951-46E6-AEA7-0993C867FB6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937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69F7-12D5-40F0-88F0-33D60AEB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BB511-E79D-41D8-AF91-14A5C803F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5DFA-4DAF-4B30-8032-503081AE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8189-0D9C-48A6-9FA3-862227B094CE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4FBF5-16C0-46A0-916A-4910C1B6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EA6-7E48-454C-887A-0EF3356F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312BAB-A07B-4FEA-8EB5-A7BD8B24C6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45A432-7E52-48B5-A8BB-13EED592E35A}"/>
              </a:ext>
            </a:extLst>
          </p:cNvPr>
          <p:cNvSpPr/>
          <p:nvPr/>
        </p:nvSpPr>
        <p:spPr>
          <a:xfrm>
            <a:off x="7813964" y="0"/>
            <a:ext cx="4378036" cy="6858000"/>
          </a:xfrm>
          <a:prstGeom prst="rect">
            <a:avLst/>
          </a:prstGeom>
          <a:ln>
            <a:noFill/>
          </a:ln>
          <a:effectLst>
            <a:outerShdw blurRad="254000" dist="152400" dir="1068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288B6-16BD-4DEE-9187-C78963ED1D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59F7B-ED77-4251-A424-93712C6F5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39544" y="872836"/>
            <a:ext cx="2521527" cy="5119256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95692-9BD0-4EB9-B344-9A6945DB0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6746" y="872836"/>
            <a:ext cx="6634169" cy="5119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8527-7CED-4CF3-A260-649685D2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26ADDCAE-6443-42C3-9C19-F95985500186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17F65-E517-4B50-B559-FD7D59F3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581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40B7-46EE-49D9-BE89-7E101F80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5031BF-2EA5-4128-B6AF-2D0F5A1010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9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8E7D36-B1C9-463C-983F-AEA5810A60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9A221-B33F-47C2-85FF-2C8F363D797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0E0EF1-7626-4514-9337-271DD661B1E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F0B1492-9A00-4F80-8771-0BB2C2C4353C}"/>
              </a:ext>
            </a:extLst>
          </p:cNvPr>
          <p:cNvSpPr/>
          <p:nvPr/>
        </p:nvSpPr>
        <p:spPr>
          <a:xfrm>
            <a:off x="0" y="-2"/>
            <a:ext cx="12188952" cy="2544415"/>
          </a:xfrm>
          <a:prstGeom prst="rect">
            <a:avLst/>
          </a:prstGeom>
          <a:ln>
            <a:noFill/>
          </a:ln>
          <a:effectLst>
            <a:outerShdw blurRad="190500" dist="1270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62805-4F8E-44FE-905C-2C3F1A2B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5021C-0380-49AA-ADA1-A8B473FBF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9" y="2750126"/>
            <a:ext cx="10381205" cy="3261789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A2409-F298-40BF-BFAC-65A3E71D2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89806E-8E94-473C-AEE7-BE6F15F85533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799D8-4DBF-4BB2-8D2B-65592ADC9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481" y="236199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9666-11C3-48A1-966C-439EBF9D9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lang="en-US" sz="1400" b="1" kern="1200" smtClean="0">
                <a:solidFill>
                  <a:schemeClr val="tx1"/>
                </a:solidFill>
                <a:latin typeface="Bierstadt" panose="020B0504020202020204" pitchFamily="34" charset="0"/>
                <a:ea typeface="+mn-ea"/>
                <a:cs typeface="+mn-cs"/>
              </a:defRPr>
            </a:lvl1pPr>
          </a:lstStyle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FAC7B62-8ACC-41ED-80AB-8D1CDF38B9E4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5FF525-9A83-4625-99D9-B267BDE077E7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631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1" r:id="rId6"/>
    <p:sldLayoutId id="2147483737" r:id="rId7"/>
    <p:sldLayoutId id="2147483738" r:id="rId8"/>
    <p:sldLayoutId id="2147483739" r:id="rId9"/>
    <p:sldLayoutId id="2147483740" r:id="rId10"/>
    <p:sldLayoutId id="2147483742" r:id="rId11"/>
  </p:sldLayoutIdLst>
  <p:hf sldNum="0" hdr="0" ftr="0" dt="0"/>
  <p:txStyles>
    <p:titleStyle>
      <a:lvl1pPr algn="l" defTabSz="914400" rtl="0" eaLnBrk="1" latinLnBrk="0" hangingPunct="1">
        <a:lnSpc>
          <a:spcPct val="117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70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7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7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7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7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5CC50F2E-EF04-4D7A-A09C-5AEF6E5EA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5995" cy="3429000"/>
          </a:xfrm>
          <a:prstGeom prst="rect">
            <a:avLst/>
          </a:prstGeom>
          <a:ln>
            <a:noFill/>
          </a:ln>
          <a:effectLst>
            <a:outerShdw blurRad="342900" dist="2286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3AB67AA5-6359-CA8A-211D-55D884573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5305" y="235881"/>
            <a:ext cx="4569006" cy="2884247"/>
          </a:xfrm>
        </p:spPr>
        <p:txBody>
          <a:bodyPr anchor="ctr">
            <a:normAutofit/>
          </a:bodyPr>
          <a:lstStyle/>
          <a:p>
            <a:r>
              <a:rPr lang="en-US" sz="4000" dirty="0"/>
              <a:t>Báo </a:t>
            </a:r>
            <a:r>
              <a:rPr lang="en-US" sz="4000" dirty="0" err="1"/>
              <a:t>cáo</a:t>
            </a:r>
            <a:r>
              <a:rPr lang="en-US" sz="4000" dirty="0"/>
              <a:t> </a:t>
            </a:r>
            <a:r>
              <a:rPr lang="en-US" sz="4000" dirty="0" err="1"/>
              <a:t>kết</a:t>
            </a:r>
            <a:r>
              <a:rPr lang="en-US" sz="4000" dirty="0"/>
              <a:t> </a:t>
            </a:r>
            <a:r>
              <a:rPr lang="en-US" sz="4000" dirty="0" err="1"/>
              <a:t>quả</a:t>
            </a:r>
            <a:r>
              <a:rPr lang="en-US" sz="4000" dirty="0"/>
              <a:t> </a:t>
            </a:r>
            <a:r>
              <a:rPr lang="en-US" sz="4000" dirty="0" err="1"/>
              <a:t>thực</a:t>
            </a:r>
            <a:r>
              <a:rPr lang="en-US" sz="4000" dirty="0"/>
              <a:t> </a:t>
            </a:r>
            <a:r>
              <a:rPr lang="en-US" sz="4000" dirty="0" err="1"/>
              <a:t>hành</a:t>
            </a:r>
            <a:r>
              <a:rPr lang="en-US" sz="4000" dirty="0"/>
              <a:t> BT 4 &amp; 5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2204BF10-7129-FCBB-3DD0-B1E0CE842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7573" y="3883809"/>
            <a:ext cx="4569006" cy="2720131"/>
          </a:xfrm>
        </p:spPr>
        <p:txBody>
          <a:bodyPr anchor="b">
            <a:normAutofit/>
          </a:bodyPr>
          <a:lstStyle/>
          <a:p>
            <a:r>
              <a:rPr lang="en-US" dirty="0"/>
              <a:t>Lâm Quang </a:t>
            </a:r>
            <a:r>
              <a:rPr lang="en-US" dirty="0" err="1"/>
              <a:t>Khôi</a:t>
            </a:r>
            <a:r>
              <a:rPr lang="en-US" dirty="0"/>
              <a:t> - 3122411100</a:t>
            </a:r>
          </a:p>
          <a:p>
            <a:r>
              <a:rPr lang="en-US" dirty="0"/>
              <a:t>Nguyễn </a:t>
            </a:r>
            <a:r>
              <a:rPr lang="en-US" dirty="0" err="1"/>
              <a:t>Trọng</a:t>
            </a:r>
            <a:r>
              <a:rPr lang="en-US" dirty="0"/>
              <a:t> Nghĩa - 3122411132</a:t>
            </a:r>
          </a:p>
          <a:p>
            <a:r>
              <a:rPr lang="en-US" dirty="0"/>
              <a:t>Huỳnh Thanh Tuấn - 3122411234</a:t>
            </a:r>
          </a:p>
          <a:p>
            <a:r>
              <a:rPr lang="en-US" dirty="0"/>
              <a:t>Đỗ Minh </a:t>
            </a:r>
            <a:r>
              <a:rPr lang="en-US" dirty="0" err="1"/>
              <a:t>Triết</a:t>
            </a:r>
            <a:r>
              <a:rPr lang="en-US" dirty="0"/>
              <a:t> - 3122411224</a:t>
            </a:r>
          </a:p>
          <a:p>
            <a:endParaRPr lang="en-US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F1B9918B-B339-B79C-2A91-64D3F4D1C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63" r="29804"/>
          <a:stretch>
            <a:fillRect/>
          </a:stretch>
        </p:blipFill>
        <p:spPr>
          <a:xfrm>
            <a:off x="20" y="10"/>
            <a:ext cx="6095978" cy="6857989"/>
          </a:xfrm>
          <a:prstGeom prst="rect">
            <a:avLst/>
          </a:prstGeom>
        </p:spPr>
      </p:pic>
      <p:cxnSp>
        <p:nvCxnSpPr>
          <p:cNvPr id="20" name="Straight Connector 12">
            <a:extLst>
              <a:ext uri="{FF2B5EF4-FFF2-40B4-BE49-F238E27FC236}">
                <a16:creationId xmlns:a16="http://schemas.microsoft.com/office/drawing/2014/main" id="{1D7AD51E-A168-490B-B8A6-8AFE86E0F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008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84A420-F50C-4C2C-B88E-E6F4EF504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3A6D2E-5228-4998-9E24-EFCCA0246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DB48DB-8E25-4F2F-8C02-5B7939372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2BA7E3-7313-49C8-A245-A85BDEB13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17A8AAA3-D9F6-4250-8F3D-3EF603EFC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00C5776-6710-4578-81A6-75E383CAD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>
            <a:outerShdw blurRad="635000" dist="3175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E8EEFAF0-B48B-3B27-4574-4CB44FC78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88" y="514458"/>
            <a:ext cx="7802096" cy="62293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3600"/>
              <a:t>1. Mục tiêu thực hiện</a:t>
            </a:r>
            <a:endParaRPr lang="en-US" sz="3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F20FC1-76E0-42F0-95A5-2DCE9876E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">
            <a:extLst>
              <a:ext uri="{FF2B5EF4-FFF2-40B4-BE49-F238E27FC236}">
                <a16:creationId xmlns:a16="http://schemas.microsoft.com/office/drawing/2014/main" id="{A9B9742E-3FDC-5C8B-DA96-778029216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57" y="1830182"/>
            <a:ext cx="7949612" cy="2430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Làm quen hệ sinh thái: Spring Boot, Resilience4j, Kafka, Eureka.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 dựng và hình dung cấu trúc tổng thể một đồ án Microservice thực tế.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Nắm vững cơ chế giao tiếp Request/Response giữa các service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Đồ họa 16">
            <a:extLst>
              <a:ext uri="{FF2B5EF4-FFF2-40B4-BE49-F238E27FC236}">
                <a16:creationId xmlns:a16="http://schemas.microsoft.com/office/drawing/2014/main" id="{CFE32D68-EEA2-B40F-35A3-F71388BB3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16824">
            <a:off x="8961208" y="834952"/>
            <a:ext cx="1176474" cy="1042827"/>
          </a:xfrm>
          <a:prstGeom prst="rect">
            <a:avLst/>
          </a:prstGeom>
        </p:spPr>
      </p:pic>
      <p:pic>
        <p:nvPicPr>
          <p:cNvPr id="21" name="Đồ họa 20">
            <a:extLst>
              <a:ext uri="{FF2B5EF4-FFF2-40B4-BE49-F238E27FC236}">
                <a16:creationId xmlns:a16="http://schemas.microsoft.com/office/drawing/2014/main" id="{EFBB2BB0-1392-479B-03D4-39D5E1A12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271055">
            <a:off x="2510040" y="5467028"/>
            <a:ext cx="1894059" cy="947030"/>
          </a:xfrm>
          <a:prstGeom prst="rect">
            <a:avLst/>
          </a:prstGeom>
        </p:spPr>
      </p:pic>
      <p:pic>
        <p:nvPicPr>
          <p:cNvPr id="1032" name="Picture 8" descr="Spring Cloud Gateway">
            <a:extLst>
              <a:ext uri="{FF2B5EF4-FFF2-40B4-BE49-F238E27FC236}">
                <a16:creationId xmlns:a16="http://schemas.microsoft.com/office/drawing/2014/main" id="{96205A8F-1A9F-4583-7996-73219F3DE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76971">
            <a:off x="8859804" y="4302937"/>
            <a:ext cx="2173987" cy="2048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204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D259F-0C03-B815-B8B2-AA9505E8C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10C92917-A828-4B36-95DE-11CA4F9C2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335820B-3A29-42C5-AA8D-10ECA43CD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4809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1AF686C4-48F5-D7F6-46A7-A898CB9A5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3"/>
            <a:ext cx="9906799" cy="1161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2. Công nghệ và Môi trường hệ thống</a:t>
            </a:r>
          </a:p>
        </p:txBody>
      </p:sp>
      <p:pic>
        <p:nvPicPr>
          <p:cNvPr id="6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52B48EA-0B62-3B02-CCBF-CF276FBAC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67" y="3956981"/>
            <a:ext cx="4955147" cy="656556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633F03D-46B6-84B6-FAB1-BB860F8DD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2" y="2638498"/>
            <a:ext cx="5770272" cy="36015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fontAlgn="base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Ngôn ngữ &amp; Build Tool: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Java 21 và Apache Maven 3.9.11.</a:t>
            </a:r>
          </a:p>
          <a:p>
            <a:pPr marL="285750" marR="0" lvl="0" indent="-285750" fontAlgn="base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Framework: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Spring Boot Initializr (phiên bản 3.3.5/4.0.4).</a:t>
            </a:r>
          </a:p>
          <a:p>
            <a:pPr marL="285750" marR="0" lvl="0" indent="-285750" fontAlgn="base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Container: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Docker &amp; Docker Compose để quản lý các service.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8B1629-F209-47B0-BA59-6BD937DBB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27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284A420-F50C-4C2C-B88E-E6F4EF504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93A6D2E-5228-4998-9E24-EFCCA0246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DB48DB-8E25-4F2F-8C02-5B7939372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2BA7E3-7313-49C8-A245-A85BDEB13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56927B1C-2055-4F66-A747-7DB82B79E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92B251-4A53-4024-BFEB-4894511C7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69106" cy="6858000"/>
          </a:xfrm>
          <a:prstGeom prst="rect">
            <a:avLst/>
          </a:prstGeom>
          <a:ln>
            <a:noFill/>
          </a:ln>
          <a:effectLst>
            <a:outerShdw blurRad="381000" dist="2540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CB5C90D1-B09E-177F-9B21-6088E05F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607" y="1537935"/>
            <a:ext cx="4582492" cy="189106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/>
              <a:t>3. Bài tập 4</a:t>
            </a:r>
          </a:p>
        </p:txBody>
      </p:sp>
      <p:pic>
        <p:nvPicPr>
          <p:cNvPr id="6" name="Graphic 5" descr="Dấu kiểm">
            <a:extLst>
              <a:ext uri="{FF2B5EF4-FFF2-40B4-BE49-F238E27FC236}">
                <a16:creationId xmlns:a16="http://schemas.microsoft.com/office/drawing/2014/main" id="{9845B93C-E491-887C-DAE7-32AFE1F9B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2948" y="1086665"/>
            <a:ext cx="4651362" cy="465136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A448B8-5E47-4A21-B872-FCB55AD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512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84A420-F50C-4C2C-B88E-E6F4EF504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3A6D2E-5228-4998-9E24-EFCCA0246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DB48DB-8E25-4F2F-8C02-5B7939372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2BA7E3-7313-49C8-A245-A85BDEB13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AA857166-A416-4C5E-8AA9-5D5D1E13D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tint">
            <a:extLst>
              <a:ext uri="{FF2B5EF4-FFF2-40B4-BE49-F238E27FC236}">
                <a16:creationId xmlns:a16="http://schemas.microsoft.com/office/drawing/2014/main" id="{454D4344-7A53-4BC2-BE3F-111FE4853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311" y="0"/>
            <a:ext cx="1047689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5997" cy="6858000"/>
          </a:xfrm>
          <a:prstGeom prst="rect">
            <a:avLst/>
          </a:prstGeom>
          <a:ln>
            <a:noFill/>
          </a:ln>
          <a:effectLst>
            <a:outerShdw blurRad="596900" dist="330200" dir="882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5997" cy="3429000"/>
          </a:xfrm>
          <a:prstGeom prst="rect">
            <a:avLst/>
          </a:prstGeom>
          <a:ln>
            <a:noFill/>
          </a:ln>
          <a:effectLst>
            <a:outerShdw blurRad="342900" dist="2286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34726760-9165-6ED2-F668-72DC33AF6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305" y="235881"/>
            <a:ext cx="4210071" cy="28842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dirty="0"/>
              <a:t>3.1 </a:t>
            </a:r>
            <a:r>
              <a:rPr lang="en-US" sz="4800" dirty="0" err="1"/>
              <a:t>Thiết</a:t>
            </a:r>
            <a:r>
              <a:rPr lang="en-US" sz="4800" dirty="0"/>
              <a:t> </a:t>
            </a:r>
            <a:r>
              <a:rPr lang="en-US" sz="4800" dirty="0" err="1"/>
              <a:t>kế</a:t>
            </a:r>
            <a:r>
              <a:rPr lang="en-US" sz="4800" dirty="0"/>
              <a:t> </a:t>
            </a:r>
            <a:r>
              <a:rPr lang="en-US" sz="4800" dirty="0" err="1"/>
              <a:t>kiến</a:t>
            </a:r>
            <a:r>
              <a:rPr lang="en-US" sz="4800" dirty="0"/>
              <a:t> </a:t>
            </a:r>
            <a:r>
              <a:rPr lang="en-US" sz="4800" dirty="0" err="1"/>
              <a:t>trúc</a:t>
            </a:r>
            <a:r>
              <a:rPr lang="en-US" sz="4800" dirty="0"/>
              <a:t> 3 </a:t>
            </a:r>
            <a:r>
              <a:rPr lang="en-US" sz="4800" dirty="0" err="1"/>
              <a:t>tầng</a:t>
            </a:r>
            <a:r>
              <a:rPr lang="en-US" sz="4800" dirty="0"/>
              <a:t> (BT4) </a:t>
            </a:r>
          </a:p>
        </p:txBody>
      </p:sp>
      <p:pic>
        <p:nvPicPr>
          <p:cNvPr id="3" name="Picture 3" descr="A diagram of a service&#10;&#10;Description automatically generated">
            <a:extLst>
              <a:ext uri="{FF2B5EF4-FFF2-40B4-BE49-F238E27FC236}">
                <a16:creationId xmlns:a16="http://schemas.microsoft.com/office/drawing/2014/main" id="{BEAF80C3-9BDE-A8DF-499C-6AD4BF9A6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81" y="1799763"/>
            <a:ext cx="5408256" cy="3258474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D7AD51E-A168-490B-B8A6-8AFE86E0F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A6B27E19-FE47-167A-76D9-F5D3445BF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010" y="3401729"/>
            <a:ext cx="5272097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Tầng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Quản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(Server for Service):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Eureka Server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điều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phối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Tầng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Nghiệp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vụ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(Logic Layer):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Inventory, Order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Product service.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Tầng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(Scattered DB):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dịch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hữu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DB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riêng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biệt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(Loose coupling)</a:t>
            </a:r>
          </a:p>
        </p:txBody>
      </p:sp>
    </p:spTree>
    <p:extLst>
      <p:ext uri="{BB962C8B-B14F-4D97-AF65-F5344CB8AC3E}">
        <p14:creationId xmlns:p14="http://schemas.microsoft.com/office/powerpoint/2010/main" val="3266567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75A808C-69CE-9FDC-FAE3-3D0D094B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 </a:t>
            </a:r>
            <a:r>
              <a:rPr lang="vi-VN" dirty="0"/>
              <a:t>Lưu trữ Đa nền tảng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D76AD9F-2763-37C4-FABE-E4194A3F3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201" y="3489960"/>
            <a:ext cx="6353021" cy="2009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Order Service: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MySQL 8.4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Đảm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tính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nhất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giao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dịch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Inventory Service: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PostgreSQL 16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chặt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Product Service: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MongoDB 7 (Linh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hoạt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catalog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phẩm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3" name="Picture 7">
            <a:extLst>
              <a:ext uri="{FF2B5EF4-FFF2-40B4-BE49-F238E27FC236}">
                <a16:creationId xmlns:a16="http://schemas.microsoft.com/office/drawing/2014/main" id="{86F67062-15F6-D9C9-E0A1-98FA211BC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480" y="2618422"/>
            <a:ext cx="167640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 descr="Postgresql plain wordmark logo Icon">
            <a:extLst>
              <a:ext uri="{FF2B5EF4-FFF2-40B4-BE49-F238E27FC236}">
                <a16:creationId xmlns:a16="http://schemas.microsoft.com/office/drawing/2014/main" id="{130D6E11-B45A-F787-DCB4-9735FE3BB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0720" y="3850609"/>
            <a:ext cx="1432273" cy="1432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1" name="Picture 15">
            <a:extLst>
              <a:ext uri="{FF2B5EF4-FFF2-40B4-BE49-F238E27FC236}">
                <a16:creationId xmlns:a16="http://schemas.microsoft.com/office/drawing/2014/main" id="{6CE262C3-BB31-DD23-AE85-A39A6C5FB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5499613"/>
            <a:ext cx="3108960" cy="838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870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D3D8568D-8CA4-216D-18F0-9BC3E8D4CA69}"/>
              </a:ext>
            </a:extLst>
          </p:cNvPr>
          <p:cNvSpPr txBox="1"/>
          <p:nvPr/>
        </p:nvSpPr>
        <p:spPr>
          <a:xfrm>
            <a:off x="441960" y="562094"/>
            <a:ext cx="7604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3.3 Chi </a:t>
            </a:r>
            <a:r>
              <a:rPr lang="en-US" sz="3200" b="1" dirty="0" err="1"/>
              <a:t>tiết</a:t>
            </a:r>
            <a:r>
              <a:rPr lang="en-US" sz="3200" b="1" dirty="0"/>
              <a:t> Product &amp; Inventory Service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EDE83D-D365-2A68-8F38-A674B3FDC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" y="1886201"/>
            <a:ext cx="10027104" cy="2049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Service: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Quản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(Catalog),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kê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Service: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Quản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cập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nhật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tồn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SKU.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Kafka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hồi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kiện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387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ED25F-AF56-DEE8-5627-A97CB1B4A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880AB0F-C16C-FE0D-8B16-E7A3D26EA675}"/>
              </a:ext>
            </a:extLst>
          </p:cNvPr>
          <p:cNvSpPr txBox="1"/>
          <p:nvPr/>
        </p:nvSpPr>
        <p:spPr>
          <a:xfrm>
            <a:off x="441960" y="562094"/>
            <a:ext cx="7604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3.4 Order Service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27A89C-B18F-5E6D-B68B-F62AF2860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" y="2097525"/>
            <a:ext cx="7667484" cy="2266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Vai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trò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nhận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điều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phối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luồng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chế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Gọi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Inventory Service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trước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chốt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Circuit Breaker, Retry, Time Limiter (Resilience4j).</a:t>
            </a:r>
          </a:p>
        </p:txBody>
      </p:sp>
    </p:spTree>
    <p:extLst>
      <p:ext uri="{BB962C8B-B14F-4D97-AF65-F5344CB8AC3E}">
        <p14:creationId xmlns:p14="http://schemas.microsoft.com/office/powerpoint/2010/main" val="3945360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284A420-F50C-4C2C-B88E-E6F4EF504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93A6D2E-5228-4998-9E24-EFCCA0246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DB48DB-8E25-4F2F-8C02-5B7939372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2BA7E3-7313-49C8-A245-A85BDEB13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39DEF503-AFED-40B5-99E5-87975B0D7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nt">
            <a:extLst>
              <a:ext uri="{FF2B5EF4-FFF2-40B4-BE49-F238E27FC236}">
                <a16:creationId xmlns:a16="http://schemas.microsoft.com/office/drawing/2014/main" id="{B38BFBE2-9AD8-4542-8FAC-02614711B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A8629BE-0179-4699-B176-6397C0043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2"/>
            <a:ext cx="12191993" cy="3657602"/>
          </a:xfrm>
          <a:prstGeom prst="rect">
            <a:avLst/>
          </a:prstGeom>
          <a:ln>
            <a:noFill/>
          </a:ln>
          <a:effectLst>
            <a:outerShdw blurRad="228600" dist="1524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4EBEFABE-5BE3-2592-76F2-B8F2A862F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38334"/>
            <a:ext cx="9296597" cy="256198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dirty="0"/>
              <a:t>4. </a:t>
            </a:r>
            <a:r>
              <a:rPr lang="en-US" sz="4800" dirty="0" err="1"/>
              <a:t>Nâng</a:t>
            </a:r>
            <a:r>
              <a:rPr lang="en-US" sz="4800" dirty="0"/>
              <a:t> </a:t>
            </a:r>
            <a:r>
              <a:rPr lang="en-US" sz="4800" dirty="0" err="1"/>
              <a:t>cấp</a:t>
            </a:r>
            <a:r>
              <a:rPr lang="en-US" sz="4800" dirty="0"/>
              <a:t> </a:t>
            </a:r>
            <a:r>
              <a:rPr lang="en-US" sz="4800" dirty="0" err="1"/>
              <a:t>Hệ</a:t>
            </a:r>
            <a:r>
              <a:rPr lang="en-US" sz="4800" dirty="0"/>
              <a:t> </a:t>
            </a:r>
            <a:r>
              <a:rPr lang="en-US" sz="4800" dirty="0" err="1"/>
              <a:t>thống</a:t>
            </a:r>
            <a:r>
              <a:rPr lang="en-US" sz="4800" dirty="0"/>
              <a:t> </a:t>
            </a:r>
            <a:r>
              <a:rPr lang="en-US" sz="4800" dirty="0" err="1"/>
              <a:t>với</a:t>
            </a:r>
            <a:r>
              <a:rPr lang="en-US" sz="4800" dirty="0"/>
              <a:t> BT5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5D4690-002A-4B9A-A715-6B4730621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614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7DE220E6-BA55-4F04-B3C4-F4985F3E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tint">
            <a:extLst>
              <a:ext uri="{FF2B5EF4-FFF2-40B4-BE49-F238E27FC236}">
                <a16:creationId xmlns:a16="http://schemas.microsoft.com/office/drawing/2014/main" id="{5AE190BC-D2FD-433E-AB89-0DF68EFD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5644" y="0"/>
            <a:ext cx="1046356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6864" y="0"/>
            <a:ext cx="5815134" cy="6858000"/>
          </a:xfrm>
          <a:prstGeom prst="rect">
            <a:avLst/>
          </a:prstGeom>
          <a:ln>
            <a:noFill/>
          </a:ln>
          <a:effectLst>
            <a:outerShdw blurRad="508000" dist="1905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9DEEA50D-263E-F2A7-A2CC-0D719D087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6863" y="196884"/>
            <a:ext cx="3968783" cy="2021378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4.1 </a:t>
            </a:r>
            <a:r>
              <a:rPr lang="en-US" sz="4800" dirty="0" err="1"/>
              <a:t>Nâng</a:t>
            </a:r>
            <a:r>
              <a:rPr lang="en-US" sz="4800" dirty="0"/>
              <a:t> </a:t>
            </a:r>
            <a:r>
              <a:rPr lang="en-US" sz="4800" dirty="0" err="1"/>
              <a:t>cấp</a:t>
            </a:r>
            <a:r>
              <a:rPr lang="en-US" sz="4800" dirty="0"/>
              <a:t> </a:t>
            </a:r>
            <a:r>
              <a:rPr lang="en-US" sz="4800" dirty="0" err="1"/>
              <a:t>Hệ</a:t>
            </a:r>
            <a:r>
              <a:rPr lang="en-US" sz="4800" dirty="0"/>
              <a:t> </a:t>
            </a:r>
            <a:r>
              <a:rPr lang="en-US" sz="4800" dirty="0" err="1"/>
              <a:t>thống</a:t>
            </a:r>
            <a:r>
              <a:rPr lang="en-US" sz="4800" dirty="0"/>
              <a:t> </a:t>
            </a:r>
            <a:r>
              <a:rPr lang="en-US" sz="4800" dirty="0" err="1"/>
              <a:t>với</a:t>
            </a:r>
            <a:r>
              <a:rPr lang="en-US" sz="4800" dirty="0"/>
              <a:t> BT5</a:t>
            </a:r>
          </a:p>
        </p:txBody>
      </p:sp>
      <p:pic>
        <p:nvPicPr>
          <p:cNvPr id="5" name="Picture 9" descr="A diagram of a server&#10;&#10;Description automatically generated">
            <a:extLst>
              <a:ext uri="{FF2B5EF4-FFF2-40B4-BE49-F238E27FC236}">
                <a16:creationId xmlns:a16="http://schemas.microsoft.com/office/drawing/2014/main" id="{A5C63357-BAB6-870D-867D-38C4830F3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67" y="1207573"/>
            <a:ext cx="4950255" cy="444285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0C324C9-D14A-EB80-A313-6AEA2D877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27953" y="2218262"/>
            <a:ext cx="4912956" cy="41368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Bổ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Gateway Service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Bổ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Notification Service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mật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8B1629-F209-47B0-BA59-6BD937DBB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338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366C441-3130-B203-132D-4EDCE846A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4.2 </a:t>
            </a:r>
            <a:r>
              <a:rPr lang="vi-VN" dirty="0"/>
              <a:t>Cổng điều hướng API (API </a:t>
            </a:r>
            <a:r>
              <a:rPr lang="vi-VN" dirty="0" err="1"/>
              <a:t>Gateway</a:t>
            </a:r>
            <a:r>
              <a:rPr lang="vi-VN" dirty="0"/>
              <a:t>)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B7C8D3-D5B4-D6C6-0968-75D810565C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1" y="3452818"/>
            <a:ext cx="9128959" cy="2227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Routing: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Định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tuyến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yêu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cầu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đến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đúng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service.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Load Balancing: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động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cân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bằng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tải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dựa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trên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tên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service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từ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Eureka.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Monitoring: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lường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thời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lý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request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900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181B48B-81E6-D0D2-51BE-73244FDB7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4.3 Notification Service &amp; Kafka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53161B7-9E5C-49D8-3245-825E06695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801" y="3241223"/>
            <a:ext cx="9204764" cy="265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chế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Tiêu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thụ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(Consume)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kiện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từ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Kafka 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Xử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lý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Giải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mã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điệp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giả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lập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gửi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Email/SMS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báo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hàng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thành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Lưu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trữ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Lưu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lịch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báo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vào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MongoDB.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686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FA8C0F4-228A-6BEF-82EB-F4FEB7E49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Notification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F2DA31A-97C0-BB41-7F61-A292AC476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801" y="3595233"/>
            <a:ext cx="9692077" cy="2227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Event Ingestion: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Order-service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đẩy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điệp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vào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Kafka Topic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giao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dịch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thành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Processing: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Notification-service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dụng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@KafkaListener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bắt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parse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Persistence: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lưu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vết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vào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database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đối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002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2ED86A6-0457-14FC-2C89-9D5C29A54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4.5 Eureka Server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E05FE30-2FFD-77E4-76E7-6F125D7D2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" y="3122794"/>
            <a:ext cx="7515199" cy="2227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Chức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năng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Registry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lưu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instance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đang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động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Lợi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ích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Các service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tìm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thấy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nhau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cần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cấu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hình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IP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tĩnh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Thực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Chạy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trên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cổng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mặc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định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8761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295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DED41F3-5F56-F321-9F39-AC17FD3A237A}"/>
              </a:ext>
            </a:extLst>
          </p:cNvPr>
          <p:cNvSpPr txBox="1">
            <a:spLocks/>
          </p:cNvSpPr>
          <p:nvPr/>
        </p:nvSpPr>
        <p:spPr>
          <a:xfrm>
            <a:off x="4411880" y="2712863"/>
            <a:ext cx="4092040" cy="1432273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 defTabSz="914400" rtl="0" eaLnBrk="1" latinLnBrk="0" hangingPunct="1">
              <a:lnSpc>
                <a:spcPct val="117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5. </a:t>
            </a:r>
            <a:r>
              <a:rPr lang="en-US" sz="6000" dirty="0" err="1"/>
              <a:t>Kiểm</a:t>
            </a:r>
            <a:r>
              <a:rPr lang="en-US" sz="6000" dirty="0"/>
              <a:t> </a:t>
            </a:r>
            <a:r>
              <a:rPr lang="en-US" sz="6000" dirty="0" err="1"/>
              <a:t>thử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105382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êu đề 1">
            <a:extLst>
              <a:ext uri="{FF2B5EF4-FFF2-40B4-BE49-F238E27FC236}">
                <a16:creationId xmlns:a16="http://schemas.microsoft.com/office/drawing/2014/main" id="{48022FA6-07F0-02C4-9578-97509AE7B57B}"/>
              </a:ext>
            </a:extLst>
          </p:cNvPr>
          <p:cNvSpPr txBox="1">
            <a:spLocks/>
          </p:cNvSpPr>
          <p:nvPr/>
        </p:nvSpPr>
        <p:spPr>
          <a:xfrm>
            <a:off x="197921" y="0"/>
            <a:ext cx="10380573" cy="1432273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 defTabSz="914400" rtl="0" eaLnBrk="1" latinLnBrk="0" hangingPunct="1">
              <a:lnSpc>
                <a:spcPct val="117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5.1 Quy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vi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C7307B-6803-4FD8-9FBE-C4676ED3A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21" y="2846321"/>
            <a:ext cx="6795450" cy="2049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28 file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nguồn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chuyên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sâu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phủ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Unit Test, Integration Test, Smoke Test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E2E Test.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Công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JUnit Jupiter, Mockito,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Testcontainers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6" name="Biểu đồ 5">
            <a:extLst>
              <a:ext uri="{FF2B5EF4-FFF2-40B4-BE49-F238E27FC236}">
                <a16:creationId xmlns:a16="http://schemas.microsoft.com/office/drawing/2014/main" id="{F73534CF-952F-57B4-5F7C-133BAD828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3726647"/>
              </p:ext>
            </p:extLst>
          </p:nvPr>
        </p:nvGraphicFramePr>
        <p:xfrm>
          <a:off x="5643880" y="1075970"/>
          <a:ext cx="6795450" cy="4706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45764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76762-F5FE-E032-2CD1-DAB0CC13B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êu đề 1">
            <a:extLst>
              <a:ext uri="{FF2B5EF4-FFF2-40B4-BE49-F238E27FC236}">
                <a16:creationId xmlns:a16="http://schemas.microsoft.com/office/drawing/2014/main" id="{D38BFACD-FA57-B867-822A-AA852729DB36}"/>
              </a:ext>
            </a:extLst>
          </p:cNvPr>
          <p:cNvSpPr txBox="1">
            <a:spLocks/>
          </p:cNvSpPr>
          <p:nvPr/>
        </p:nvSpPr>
        <p:spPr>
          <a:xfrm>
            <a:off x="197921" y="0"/>
            <a:ext cx="10380573" cy="1432273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 defTabSz="914400" rtl="0" eaLnBrk="1" latinLnBrk="0" hangingPunct="1">
              <a:lnSpc>
                <a:spcPct val="117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5.2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3BA199-88F2-DDFE-1C2D-210D8D79C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21" y="6178476"/>
            <a:ext cx="473206" cy="664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2679F6-7BB5-F798-D314-9CC27F905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524" y="2271472"/>
            <a:ext cx="8337539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Inventory Service: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Thành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21/31 tests (10 tests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qua).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Order Service: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Thành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35/40 tests.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Assert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InventoryServiceClient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Module Skipped: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Reactor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Maven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ở module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1311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55DD9-5E2B-2853-CFEC-0921AA5AF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284A420-F50C-4C2C-B88E-E6F4EF504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93A6D2E-5228-4998-9E24-EFCCA0246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DB48DB-8E25-4F2F-8C02-5B7939372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2BA7E3-7313-49C8-A245-A85BDEB13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562D006A-2C60-4A71-839A-E2FBC8375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BF094EA-C61C-48DB-BBB4-456C8761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360" y="0"/>
            <a:ext cx="6241773" cy="6858000"/>
          </a:xfrm>
          <a:prstGeom prst="rect">
            <a:avLst/>
          </a:prstGeom>
          <a:ln>
            <a:noFill/>
          </a:ln>
          <a:effectLst>
            <a:outerShdw blurRad="381000" dist="254000" dir="1980000" sx="92000" sy="92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êu đề 1">
            <a:extLst>
              <a:ext uri="{FF2B5EF4-FFF2-40B4-BE49-F238E27FC236}">
                <a16:creationId xmlns:a16="http://schemas.microsoft.com/office/drawing/2014/main" id="{A28A8993-0DA7-AAD0-9570-EA75A0D04294}"/>
              </a:ext>
            </a:extLst>
          </p:cNvPr>
          <p:cNvSpPr txBox="1">
            <a:spLocks/>
          </p:cNvSpPr>
          <p:nvPr/>
        </p:nvSpPr>
        <p:spPr>
          <a:xfrm>
            <a:off x="1097280" y="2243404"/>
            <a:ext cx="4114799" cy="3802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17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4800" dirty="0"/>
              <a:t>6. </a:t>
            </a:r>
            <a:r>
              <a:rPr lang="en-US" sz="4800" dirty="0" err="1"/>
              <a:t>Kết</a:t>
            </a:r>
            <a:r>
              <a:rPr lang="en-US" sz="4800" dirty="0"/>
              <a:t> </a:t>
            </a:r>
            <a:r>
              <a:rPr lang="en-US" sz="4800" dirty="0" err="1"/>
              <a:t>quả</a:t>
            </a:r>
            <a:r>
              <a:rPr lang="en-US" sz="4800" dirty="0"/>
              <a:t> </a:t>
            </a:r>
            <a:r>
              <a:rPr lang="en-US" sz="4800" dirty="0" err="1"/>
              <a:t>Thực</a:t>
            </a:r>
            <a:r>
              <a:rPr lang="en-US" sz="4800" dirty="0"/>
              <a:t> </a:t>
            </a:r>
            <a:r>
              <a:rPr lang="en-US" sz="4800" dirty="0" err="1"/>
              <a:t>nghiệm</a:t>
            </a:r>
            <a:endParaRPr lang="en-US" sz="4800" dirty="0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1B82496-8DCE-49B5-ABDF-FE80082F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30413" cy="1874237"/>
          </a:xfrm>
          <a:prstGeom prst="rect">
            <a:avLst/>
          </a:prstGeom>
          <a:ln>
            <a:noFill/>
          </a:ln>
          <a:effectLst>
            <a:outerShdw blurRad="228600" dist="152400" dir="822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84C4F71-B2F9-47A9-A4D9-7548A474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222" y="98588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94E29AD-68A2-FD32-1EE8-96D1E08B6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749" y="755299"/>
            <a:ext cx="5431665" cy="2091190"/>
          </a:xfrm>
          <a:prstGeom prst="rect">
            <a:avLst/>
          </a:prstGeom>
        </p:spPr>
      </p:pic>
      <p:pic>
        <p:nvPicPr>
          <p:cNvPr id="6" name="Picture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D2EB3DB-665B-0601-2834-D3ED11518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749" y="4283536"/>
            <a:ext cx="5431666" cy="15208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5EAA6F-B5B4-4AF1-6CF1-D8D423E4E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21" y="6178476"/>
            <a:ext cx="473206" cy="664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9AC3FBB0-5947-AD40-6F8C-1E0A37F2BA4D}"/>
              </a:ext>
            </a:extLst>
          </p:cNvPr>
          <p:cNvSpPr txBox="1"/>
          <p:nvPr/>
        </p:nvSpPr>
        <p:spPr>
          <a:xfrm>
            <a:off x="8145780" y="3003955"/>
            <a:ext cx="6111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endParaRPr lang="en-US" dirty="0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9F10AD45-8025-B2C1-B7AA-E8DA1A3A9228}"/>
              </a:ext>
            </a:extLst>
          </p:cNvPr>
          <p:cNvSpPr txBox="1"/>
          <p:nvPr/>
        </p:nvSpPr>
        <p:spPr>
          <a:xfrm>
            <a:off x="8145780" y="5928697"/>
            <a:ext cx="7147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chạy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docker-compose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194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47AA1B28-14B5-9C6A-766E-F6DA0BC74DA9}"/>
              </a:ext>
            </a:extLst>
          </p:cNvPr>
          <p:cNvSpPr txBox="1"/>
          <p:nvPr/>
        </p:nvSpPr>
        <p:spPr>
          <a:xfrm>
            <a:off x="3048000" y="307505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4000" b="1" dirty="0" err="1"/>
              <a:t>Cảm</a:t>
            </a:r>
            <a:r>
              <a:rPr lang="en-US" sz="4000" b="1" dirty="0"/>
              <a:t> </a:t>
            </a:r>
            <a:r>
              <a:rPr lang="en-US" sz="4000" b="1" dirty="0" err="1"/>
              <a:t>ơn</a:t>
            </a:r>
            <a:r>
              <a:rPr lang="en-US" sz="4000" b="1" dirty="0"/>
              <a:t> </a:t>
            </a:r>
            <a:r>
              <a:rPr lang="en-US" sz="4000" b="1" dirty="0" err="1"/>
              <a:t>đã</a:t>
            </a:r>
            <a:r>
              <a:rPr lang="en-US" sz="4000" b="1" dirty="0"/>
              <a:t> </a:t>
            </a:r>
            <a:r>
              <a:rPr lang="en-US" sz="4000" b="1" dirty="0" err="1"/>
              <a:t>lắng</a:t>
            </a:r>
            <a:r>
              <a:rPr lang="en-US" sz="4000" b="1" dirty="0"/>
              <a:t> </a:t>
            </a:r>
            <a:r>
              <a:rPr lang="en-US" sz="4000" b="1" dirty="0" err="1"/>
              <a:t>nghe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390814304"/>
      </p:ext>
    </p:extLst>
  </p:cSld>
  <p:clrMapOvr>
    <a:masterClrMapping/>
  </p:clrMapOvr>
</p:sld>
</file>

<file path=ppt/theme/theme1.xml><?xml version="1.0" encoding="utf-8"?>
<a:theme xmlns:a="http://schemas.openxmlformats.org/drawingml/2006/main" name="BevelVTI">
  <a:themeElements>
    <a:clrScheme name="Custom 148">
      <a:dk1>
        <a:srgbClr val="262626"/>
      </a:dk1>
      <a:lt1>
        <a:sysClr val="window" lastClr="FFFFFF"/>
      </a:lt1>
      <a:dk2>
        <a:srgbClr val="2F333D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Custom 53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velVTI" id="{C9E5F598-602B-46C1-AA16-073CEB959654}" vid="{2AE1FD39-65AD-4D34-93E9-C7019D0ECB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699</Words>
  <Application>Microsoft Office PowerPoint</Application>
  <PresentationFormat>Màn hình rộng</PresentationFormat>
  <Paragraphs>66</Paragraphs>
  <Slides>19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19</vt:i4>
      </vt:variant>
    </vt:vector>
  </HeadingPairs>
  <TitlesOfParts>
    <vt:vector size="26" baseType="lpstr">
      <vt:lpstr>Arial</vt:lpstr>
      <vt:lpstr>Bierstadt</vt:lpstr>
      <vt:lpstr>Google Sans Text</vt:lpstr>
      <vt:lpstr>Source Sans Pro</vt:lpstr>
      <vt:lpstr>Source Sans Pro SemiBold</vt:lpstr>
      <vt:lpstr>Times New Roman</vt:lpstr>
      <vt:lpstr>BevelVTI</vt:lpstr>
      <vt:lpstr>Báo cáo kết quả thực hành BT 4 &amp; 5</vt:lpstr>
      <vt:lpstr>1. Mục tiêu thực hiện</vt:lpstr>
      <vt:lpstr>2. Công nghệ và Môi trường hệ thống</vt:lpstr>
      <vt:lpstr>3. Bài tập 4</vt:lpstr>
      <vt:lpstr>3.1 Thiết kế kiến trúc 3 tầng (BT4) </vt:lpstr>
      <vt:lpstr>3.2 Lưu trữ Đa nền tảng</vt:lpstr>
      <vt:lpstr>Bản trình bày PowerPoint</vt:lpstr>
      <vt:lpstr>Bản trình bày PowerPoint</vt:lpstr>
      <vt:lpstr>4. Nâng cấp Hệ thống với BT5</vt:lpstr>
      <vt:lpstr>4.1 Nâng cấp Hệ thống với BT5</vt:lpstr>
      <vt:lpstr>4.2 Cổng điều hướng API (API Gateway)</vt:lpstr>
      <vt:lpstr>4.3 Notification Service &amp; Kafka</vt:lpstr>
      <vt:lpstr>4.4 Luồng dữ liệu Notification</vt:lpstr>
      <vt:lpstr>4.5 Eureka Server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hằng đỗ</dc:creator>
  <cp:lastModifiedBy>hằng đỗ</cp:lastModifiedBy>
  <cp:revision>1</cp:revision>
  <dcterms:created xsi:type="dcterms:W3CDTF">2026-03-22T12:56:33Z</dcterms:created>
  <dcterms:modified xsi:type="dcterms:W3CDTF">2026-03-22T14:09:12Z</dcterms:modified>
</cp:coreProperties>
</file>