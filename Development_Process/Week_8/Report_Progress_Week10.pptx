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69" r:id="rId19"/>
    <p:sldId id="27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3759F-B6D8-4D82-988E-39531CCDBC9E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4006D-2F94-428B-B329-D8F6CA4EA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81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đoạn 1: Thu thập và Chuẩn hóa (vnstock data):</a:t>
            </a:r>
            <a:r>
              <a:rPr lang="vi-V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Tự động gọi API để lấy dữ liệu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vi-V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sàn HOSE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sàn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muốn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HOSE, HNX, UPCOM.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đoạn 2: Trích xuất tri thức (Specialized Modules):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Định lượng:</a:t>
            </a:r>
            <a:r>
              <a:rPr lang="vi-V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Tính toán 15-20 chỉ số tài chính (P/E, ROE, F-Score).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Kỹ thuật:</a:t>
            </a:r>
            <a:r>
              <a:rPr lang="vi-V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Tính RSI, MACD và lọc xu hướng.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Tâm lý (Dùng AI):</a:t>
            </a:r>
            <a:r>
              <a:rPr lang="vi-V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Đọc tiêu đề tin tức từ CafeF/Vietstock và chấm điểm từ -1 đến 1.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đoạn 3: Chấm điểm tập trung (Scoring Engine):</a:t>
            </a:r>
            <a:r>
              <a:rPr lang="vi-V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Một mô hình Machine Learning duy nhất nhận toàn bộ đặc trưng (features) từ GĐ 2 để xếp hạng cổ phiếu.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đoạn 4: Hiển thị (Dashboard):</a:t>
            </a:r>
            <a:r>
              <a:rPr lang="vi-V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Trình bày danh sách Top-10 cổ phiếu có xác suất tăng giá cao nhất.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40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07000"/>
              </a:lnSpc>
              <a:buNone/>
            </a:pPr>
            <a:endParaRPr lang="en-US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thích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Việt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Nam: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70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đoạn 1: Thu thập và Chuẩn hóa (vnstock data):</a:t>
            </a:r>
            <a:r>
              <a:rPr lang="vi-V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Tự động gọi API để lấy dữ liệu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vi-V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sàn HOSE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sàn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muốn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HOSE, HNX, UPCOM.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đoạn 2: Trích xuất tri thức (Specialized Modules):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Định lượng:</a:t>
            </a:r>
            <a:r>
              <a:rPr lang="vi-V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Tính toán 15-20 chỉ số tài chính (P/E, ROE, F-Score).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Kỹ thuật:</a:t>
            </a:r>
            <a:r>
              <a:rPr lang="vi-V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Tính RSI, MACD và lọc xu hướng.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Tâm lý (Dùng AI):</a:t>
            </a:r>
            <a:r>
              <a:rPr lang="vi-V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Đọc tiêu đề tin tức từ CafeF/Vietstock và chấm điểm từ -1 đến 1.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đoạn 3: Chấm điểm tập trung (Scoring Engine):</a:t>
            </a:r>
            <a:r>
              <a:rPr lang="vi-V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Một mô hình Machine Learning duy nhất nhận toàn bộ đặc trưng (features) từ GĐ 2 để xếp hạng cổ phiếu.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đoạn 4: Hiển thị (Dashboard):</a:t>
            </a:r>
            <a:r>
              <a:rPr lang="vi-V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Trình bày danh sách Top-10 cổ phiếu có xác suất tăng giá cao nhất.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77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4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</a:t>
            </a:r>
            <a:r>
              <a:rPr lang="vi-VN" sz="18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ử dụng n8n để chia thành các luồng chính khác nhau :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vi-VN" sz="18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	Câu hỏi chung về tài chính , kinh tế : User -&gt; LLM -&gt; Answer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vi-VN" sz="18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	Câu hỏi về gợi ý danh mục đầu tư : User -&gt; LLM -&gt; n8n -&gt; Market API -&gt; Analysis -&gt; Answer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44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rủi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khảo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92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OpenBB</a:t>
            </a:r>
            <a:endParaRPr lang="en-US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OpenBB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vụ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lấy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diện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dashboard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endParaRPr lang="en-US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MLflow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vụ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dõi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metric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artifact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version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đang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OpenBB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MLflow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MLOps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ML: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Optimizer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 engine: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bổ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83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OpenBB</a:t>
            </a:r>
            <a:endParaRPr lang="en-US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OpenBB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vụ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lấy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diện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dashboard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endParaRPr lang="en-US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MLflow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vụ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dõi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metric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artifact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version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đang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OpenBB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MLflow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MLOps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ML: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Optimizer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 engine: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bổ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77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OpenBB</a:t>
            </a:r>
            <a:endParaRPr lang="en-US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OpenBB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vụ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lấy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diện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dashboard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endParaRPr lang="en-US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MLflow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vụ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dõi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metric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artifact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version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đang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8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OpenBB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MLflow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MLOps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ML: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Optimizer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rule engine: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bổ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4006D-2F94-428B-B329-D8F6CA4EAF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CEEE-8222-4868-900C-093F26434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58729-23DD-4913-8F91-574667F85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E9B7-92D2-4C76-B8B0-8D546854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98692-CEA0-4D76-9C62-AD582813E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8D527-DFFD-409A-9A04-5501ADC7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4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3DC0-43AE-4522-A749-F93C917F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1AD89-F582-4A32-AD38-9D8B9B130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992A7-924F-4D5D-9256-13173F9F7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DE947-CFE1-45FF-8976-4A702470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0B078-FBD7-4C50-9756-6AF60DAA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1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21A6-AAF5-4536-A786-AEC0180A9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FC442-E8F1-402F-8DB9-0A48F39E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0C22B-98AE-4C64-8A68-FE41B1BA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0A654-7EC5-4FBC-9F12-9BB647C9E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504B8-B8C8-459B-B5EE-ECE8DA94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6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E2B5-38B2-4DE0-9DDA-3B42EBE17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01646-16B4-4994-BA5A-D060880B5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B2E64-EC5D-4B10-8229-1B99E4FF4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75DD2-1D7D-4A2C-878C-521D5341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E12BA-FBA2-4F6F-A8A6-9D7C7F02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1EDDE-AB4A-48C5-9821-8A877147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5312-4D06-4F06-BA0E-39A380D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D527C-34B1-4C9F-B0F5-B1A6B3078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65ED6-0ED7-493A-9CEC-0FED18B17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E2C70-E903-44EC-9D07-17C1C4380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09E6D-97DE-4CFB-AAD2-F830EB20C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E5076-A213-430D-AE31-69383DBC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F07EA-6B70-4EA3-AAB4-47CC3E7B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D87D9-9615-4A86-82E9-13B47034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3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2D72-B83C-4B4F-895C-8B6C4EFB4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53E46-A3AF-4504-9C58-0DBB3605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B5A8-F44C-41E1-8A0D-61BFACE95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9662F-808D-4859-9E2B-DFFA0842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1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AC350-6AAE-482A-A504-348483D1D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5C543-24A4-4518-B5FD-F3E51FD0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04A3F-B5F8-449B-A93A-C809EAAA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8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EF58-97D1-4EE2-8634-3CB18899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07EF6-CC5D-484F-88B5-ACA312BBB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AACE4-BED1-4FE3-98D5-2665A1F0C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ED36-ACD2-4C7D-9091-48C0C254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87D30-7197-491D-9264-E522D38B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2239D-2F28-4FB0-9AE0-52FA12D4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3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8D94-88C7-4294-B680-29B270545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7EFA0-77A3-46A5-9C48-02C20C487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1C0AA-23C1-4614-AED3-FCEA10F8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FFC8C-9B33-42CB-8EE4-157600AA7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D75B8-B88E-41D6-92ED-559578827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1ED56-9915-4AB1-B121-1B588BE0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4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8A221-5134-437D-A25D-0C2B8CAD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E75B3-2B12-45A9-A971-CE6C9373E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D6A40-C23F-49CC-8E9F-54967350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45551-80F1-4360-B97C-D67BBC6D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ED2C0-1B92-40BF-BDD7-D4DE411B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54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548A5-9F56-4596-A473-53EF788CC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5B603-072B-4DAE-B82E-412E8C728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88C58-E8E6-4E6E-A32E-23038C86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AAFC2-DA5E-403A-89A5-163224442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ABED8-D7AD-4CC6-B7C8-114303E6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63DC9-E628-4C9B-A771-C93236ED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B054B-E86A-41E0-9C5D-AEEA4E9D2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3056F-2F6A-406E-909B-6D5AA9158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00991-AF8E-4265-87F3-C086637546BF}" type="datetimeFigureOut">
              <a:rPr lang="en-US" smtClean="0"/>
              <a:t>22/3/2026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25561-838C-464E-802B-5468DFC0E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F4B70-F076-42B4-83CB-F360F03B5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40496-FCA5-4B2F-83FD-F6EC8BD69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0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A260-974F-484E-831F-2B1BE3289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A1C12-FD66-44E8-84F0-BB9C30E61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Môn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endParaRPr lang="en-US" dirty="0"/>
          </a:p>
          <a:p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</a:t>
            </a:r>
          </a:p>
          <a:p>
            <a:r>
              <a:rPr lang="en-US" dirty="0"/>
              <a:t>Lâm Quang Khôi</a:t>
            </a:r>
          </a:p>
          <a:p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  <a:p>
            <a:r>
              <a:rPr lang="en-US" dirty="0" err="1"/>
              <a:t>Huỳnh</a:t>
            </a:r>
            <a:r>
              <a:rPr lang="en-US" dirty="0"/>
              <a:t> Thanh </a:t>
            </a:r>
            <a:r>
              <a:rPr lang="en-US" dirty="0" err="1"/>
              <a:t>Tuấn</a:t>
            </a:r>
            <a:endParaRPr lang="en-US" dirty="0"/>
          </a:p>
          <a:p>
            <a:r>
              <a:rPr lang="en-US" dirty="0" err="1"/>
              <a:t>Đỗ</a:t>
            </a:r>
            <a:r>
              <a:rPr lang="en-US" dirty="0"/>
              <a:t> Minh </a:t>
            </a:r>
            <a:r>
              <a:rPr lang="en-US" dirty="0" err="1"/>
              <a:t>Triết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06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18DA-7936-4878-9727-87370504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E4BCA-2752-48EB-959E-F196F0822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 err="1">
                <a:sym typeface="Wingdings" panose="05000000000000000000" pitchFamily="2" charset="2"/>
              </a:rPr>
              <a:t>Đề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xuất</a:t>
            </a:r>
            <a:r>
              <a:rPr lang="en-US" dirty="0">
                <a:sym typeface="Wingdings" panose="05000000000000000000" pitchFamily="2" charset="2"/>
              </a:rPr>
              <a:t> ra </a:t>
            </a:r>
            <a:r>
              <a:rPr lang="en-US" dirty="0" err="1">
                <a:sym typeface="Wingdings" panose="05000000000000000000" pitchFamily="2" charset="2"/>
              </a:rPr>
              <a:t>một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quy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kịch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bản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phù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hợp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với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thời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lượng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đề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tài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 err="1">
                <a:sym typeface="Wingdings" panose="05000000000000000000" pitchFamily="2" charset="2"/>
              </a:rPr>
              <a:t>Công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việc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hiện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viên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nhóm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đề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xuất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kịch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bản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khác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nhau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đánh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giá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lẫn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nhau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để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chọn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hiện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theo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tính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thi</a:t>
            </a:r>
            <a:r>
              <a:rPr lang="en-US" dirty="0">
                <a:sym typeface="Wingdings" panose="05000000000000000000" pitchFamily="2" charset="2"/>
              </a:rPr>
              <a:t>; </a:t>
            </a:r>
            <a:r>
              <a:rPr lang="en-US" dirty="0" err="1">
                <a:sym typeface="Wingdings" panose="05000000000000000000" pitchFamily="2" charset="2"/>
              </a:rPr>
              <a:t>Thử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nghiệm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công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nghệ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OpenClaw</a:t>
            </a:r>
            <a:r>
              <a:rPr lang="en-US" dirty="0">
                <a:sym typeface="Wingdings" panose="05000000000000000000" pitchFamily="2" charset="2"/>
              </a:rPr>
              <a:t> ở </a:t>
            </a:r>
            <a:r>
              <a:rPr lang="en-US" dirty="0" err="1">
                <a:sym typeface="Wingdings" panose="05000000000000000000" pitchFamily="2" charset="2"/>
              </a:rPr>
              <a:t>mức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cơ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bản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nhận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diện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chức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năng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18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45AE-CD20-4469-B50B-D0219268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5707-C8E3-484E-B757-98B205FCD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kín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Agent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(Data) </a:t>
            </a:r>
            <a:r>
              <a:rPr lang="en-US" dirty="0">
                <a:sym typeface="Wingdings" panose="05000000000000000000" pitchFamily="2" charset="2"/>
              </a:rPr>
              <a:t> EDA  Feature Engineer  Preprocess  Model feeding  Apply use case</a:t>
            </a:r>
          </a:p>
          <a:p>
            <a:r>
              <a:rPr lang="en-US" dirty="0" err="1">
                <a:sym typeface="Wingdings" panose="05000000000000000000" pitchFamily="2" charset="2"/>
              </a:rPr>
              <a:t>Mục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đích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định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hướng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sử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dụng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của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mô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phụ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thuộc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kịch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bản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huống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hiện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05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ED2E-1531-4EB5-BBCA-7E585C460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7D40-F453-483B-88D0-90111CE92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(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)</a:t>
            </a:r>
          </a:p>
          <a:p>
            <a:r>
              <a:rPr lang="en-US" dirty="0" err="1">
                <a:effectLst/>
                <a:ea typeface="MS Mincho" panose="02020609040205080304" pitchFamily="49" charset="-128"/>
              </a:rPr>
              <a:t>Hệ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thống</a:t>
            </a:r>
            <a:r>
              <a:rPr lang="en-US" dirty="0">
                <a:effectLst/>
                <a:ea typeface="MS Mincho" panose="02020609040205080304" pitchFamily="49" charset="-128"/>
              </a:rPr>
              <a:t> chatbot </a:t>
            </a:r>
            <a:r>
              <a:rPr lang="en-US" dirty="0" err="1">
                <a:effectLst/>
                <a:ea typeface="MS Mincho" panose="02020609040205080304" pitchFamily="49" charset="-128"/>
              </a:rPr>
              <a:t>tư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vấn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đầu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tư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hoạt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động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dựa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trên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việc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tiếp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nhận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câu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hỏi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của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người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dùng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và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tự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động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phân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tích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dữ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liệu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thị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trường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theo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thời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gian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thực</a:t>
            </a:r>
            <a:r>
              <a:rPr lang="en-US" dirty="0">
                <a:effectLst/>
                <a:ea typeface="MS Mincho" panose="02020609040205080304" pitchFamily="49" charset="-128"/>
              </a:rPr>
              <a:t>.</a:t>
            </a:r>
          </a:p>
          <a:p>
            <a:r>
              <a:rPr lang="en-US" dirty="0" err="1">
                <a:effectLst/>
                <a:ea typeface="Calibri" panose="020F0502020204030204" pitchFamily="34" charset="0"/>
              </a:rPr>
              <a:t>Xây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dựng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hệ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thống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hỗ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trợ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phân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tích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đầu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tư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danh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mục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3140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3411-2F5A-4AD3-8B8F-28D937C2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phiếu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E244A-ABBB-4FAE-8900-B53D7DBC7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7000"/>
              </a:lnSpc>
              <a:buNone/>
            </a:pPr>
            <a:r>
              <a:rPr lang="en-US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endParaRPr lang="en-US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ngôn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ngữ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Tâm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):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PhoBERT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(Pre-trained model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tiếng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Việt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train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phiên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huấn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luyện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sẵn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chấm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cực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cực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tức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n8n (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self-hosted).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chạy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script Python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sáng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qua Telegram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phiếu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0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3411-2F5A-4AD3-8B8F-28D937C2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phiếu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E244A-ABBB-4FAE-8900-B53D7DBC7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nghĩa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Hồ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sơ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quý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(Revenue, Net Profit, Debt/Equity)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lấy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vnstock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cửa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(Adjusted Close),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(Volume)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200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phiếu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sàn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HOSE.</a:t>
            </a:r>
          </a:p>
          <a:p>
            <a:pPr>
              <a:lnSpc>
                <a:spcPct val="107000"/>
              </a:lnSpc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Tin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tức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tức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24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giờ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Vĩ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Lãi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ngân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hưởng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mạnh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VN-Index).</a:t>
            </a:r>
          </a:p>
          <a:p>
            <a:pPr>
              <a:lnSpc>
                <a:spcPct val="107000"/>
              </a:lnSpc>
            </a:pP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525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3411-2F5A-4AD3-8B8F-28D937C2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phiếu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E244A-ABBB-4FAE-8900-B53D7DBC7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nghĩa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ra</a:t>
            </a:r>
          </a:p>
          <a:p>
            <a:pPr>
              <a:lnSpc>
                <a:spcPct val="107000"/>
              </a:lnSpc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xếp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(Ranked List):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phiếu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1-9.</a:t>
            </a:r>
          </a:p>
          <a:p>
            <a:pPr>
              <a:lnSpc>
                <a:spcPct val="107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Nhãn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Mua (Strong Buy), Theo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dõi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(Watchlist),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Bán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(Sell).</a:t>
            </a:r>
          </a:p>
          <a:p>
            <a:pPr>
              <a:lnSpc>
                <a:spcPct val="107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do AI: “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chấm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9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do: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trưởng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nhuận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RSI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đang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bán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</a:p>
          <a:p>
            <a:pPr>
              <a:lnSpc>
                <a:spcPct val="107000"/>
              </a:lnSpc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“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cậy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72%”.</a:t>
            </a:r>
          </a:p>
          <a:p>
            <a:pPr>
              <a:lnSpc>
                <a:spcPct val="107000"/>
              </a:lnSpc>
            </a:pP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06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3411-2F5A-4AD3-8B8F-28D937C2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phiếu</a:t>
            </a:r>
            <a:endParaRPr lang="en-US" dirty="0"/>
          </a:p>
        </p:txBody>
      </p:sp>
      <p:pic>
        <p:nvPicPr>
          <p:cNvPr id="6" name="Hình ảnh 1">
            <a:extLst>
              <a:ext uri="{FF2B5EF4-FFF2-40B4-BE49-F238E27FC236}">
                <a16:creationId xmlns:a16="http://schemas.microsoft.com/office/drawing/2014/main" id="{FD9AFEE6-5A02-4D1C-A49E-1B0A4DD60A4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27582" y="2780801"/>
            <a:ext cx="10946435" cy="15529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7D4DEC-F672-4A67-8DB9-36A4C56759E7}"/>
              </a:ext>
            </a:extLst>
          </p:cNvPr>
          <p:cNvSpPr txBox="1"/>
          <p:nvPr/>
        </p:nvSpPr>
        <p:spPr>
          <a:xfrm>
            <a:off x="4321629" y="4333739"/>
            <a:ext cx="3548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Mô</a:t>
            </a:r>
            <a:r>
              <a:rPr lang="en-US" i="1" dirty="0"/>
              <a:t> </a:t>
            </a:r>
            <a:r>
              <a:rPr lang="en-US" i="1" dirty="0" err="1"/>
              <a:t>hình</a:t>
            </a:r>
            <a:r>
              <a:rPr lang="en-US" i="1" dirty="0"/>
              <a:t> </a:t>
            </a:r>
            <a:r>
              <a:rPr lang="en-US" i="1" dirty="0" err="1"/>
              <a:t>cơ</a:t>
            </a:r>
            <a:r>
              <a:rPr lang="en-US" i="1" dirty="0"/>
              <a:t> </a:t>
            </a:r>
            <a:r>
              <a:rPr lang="en-US" i="1" dirty="0" err="1"/>
              <a:t>sở</a:t>
            </a:r>
            <a:r>
              <a:rPr lang="en-US" i="1" dirty="0"/>
              <a:t> </a:t>
            </a:r>
            <a:r>
              <a:rPr lang="en-US" i="1" dirty="0" err="1"/>
              <a:t>mô</a:t>
            </a:r>
            <a:r>
              <a:rPr lang="en-US" i="1" dirty="0"/>
              <a:t> </a:t>
            </a:r>
            <a:r>
              <a:rPr lang="en-US" i="1" dirty="0" err="1"/>
              <a:t>tả</a:t>
            </a:r>
            <a:r>
              <a:rPr lang="en-US" i="1" dirty="0"/>
              <a:t> </a:t>
            </a:r>
            <a:r>
              <a:rPr lang="en-US" i="1" dirty="0" err="1"/>
              <a:t>quy</a:t>
            </a:r>
            <a:r>
              <a:rPr lang="en-US" i="1" dirty="0"/>
              <a:t> </a:t>
            </a:r>
            <a:r>
              <a:rPr lang="en-US" i="1" dirty="0" err="1"/>
              <a:t>trình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94115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3411-2F5A-4AD3-8B8F-28D937C2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BDEE32-127B-4B9C-9D4C-91DD921C53CE}"/>
              </a:ext>
            </a:extLst>
          </p:cNvPr>
          <p:cNvSpPr txBox="1"/>
          <p:nvPr/>
        </p:nvSpPr>
        <p:spPr>
          <a:xfrm>
            <a:off x="1028699" y="2044005"/>
            <a:ext cx="101346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ea typeface="MS Mincho" panose="02020609040205080304" pitchFamily="49" charset="-128"/>
              </a:rPr>
              <a:t>Khi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người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dùng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nhập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một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câu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hỏi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liên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quan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đến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cổ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phiếu</a:t>
            </a:r>
            <a:r>
              <a:rPr lang="en-US" sz="2800" dirty="0">
                <a:effectLst/>
                <a:ea typeface="MS Mincho" panose="02020609040205080304" pitchFamily="49" charset="-128"/>
              </a:rPr>
              <a:t>,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hệ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thống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sẽ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sử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dụng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mô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hình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ngôn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ngữ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lớn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(LLM)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để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xác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định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ý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định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và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trích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xuất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mã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cổ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phiếu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cần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phân</a:t>
            </a:r>
            <a:r>
              <a:rPr lang="en-US" sz="2800" dirty="0">
                <a:effectLst/>
                <a:ea typeface="MS Mincho" panose="02020609040205080304" pitchFamily="49" charset="-128"/>
              </a:rPr>
              <a:t> </a:t>
            </a:r>
            <a:r>
              <a:rPr lang="en-US" sz="2800" dirty="0" err="1">
                <a:effectLst/>
                <a:ea typeface="MS Mincho" panose="02020609040205080304" pitchFamily="49" charset="-128"/>
              </a:rPr>
              <a:t>tích</a:t>
            </a:r>
            <a:r>
              <a:rPr lang="en-US" sz="2800" dirty="0">
                <a:effectLst/>
                <a:ea typeface="MS Mincho" panose="02020609040205080304" pitchFamily="49" charset="-128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9916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C94F2-578C-4EB8-B054-D59A3748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E6937-4CF8-4C75-ABAE-3FA254C4F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nghệ</a:t>
            </a:r>
            <a:r>
              <a:rPr lang="en-US" b="1" dirty="0"/>
              <a:t> </a:t>
            </a:r>
            <a:r>
              <a:rPr lang="en-US" b="1" dirty="0" err="1"/>
              <a:t>áp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endParaRPr lang="en-US" b="1" dirty="0"/>
          </a:p>
          <a:p>
            <a:r>
              <a:rPr lang="en-US" dirty="0" err="1">
                <a:effectLst/>
                <a:ea typeface="MS Mincho" panose="02020609040205080304" pitchFamily="49" charset="-128"/>
              </a:rPr>
              <a:t>Hệ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thống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sử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dụng</a:t>
            </a:r>
            <a:r>
              <a:rPr lang="en-US" dirty="0">
                <a:effectLst/>
                <a:ea typeface="MS Mincho" panose="02020609040205080304" pitchFamily="49" charset="-128"/>
              </a:rPr>
              <a:t> LLM (</a:t>
            </a:r>
            <a:r>
              <a:rPr lang="en-US" dirty="0" err="1">
                <a:effectLst/>
                <a:ea typeface="MS Mincho" panose="02020609040205080304" pitchFamily="49" charset="-128"/>
              </a:rPr>
              <a:t>OpenAI</a:t>
            </a:r>
            <a:r>
              <a:rPr lang="en-US" dirty="0">
                <a:effectLst/>
                <a:ea typeface="MS Mincho" panose="02020609040205080304" pitchFamily="49" charset="-128"/>
              </a:rPr>
              <a:t>/Claude) </a:t>
            </a:r>
            <a:r>
              <a:rPr lang="en-US" dirty="0" err="1">
                <a:effectLst/>
                <a:ea typeface="MS Mincho" panose="02020609040205080304" pitchFamily="49" charset="-128"/>
              </a:rPr>
              <a:t>để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xử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lý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ngôn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ngữ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tự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nhiên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và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sinh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câu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trả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lời</a:t>
            </a:r>
            <a:r>
              <a:rPr lang="en-US" dirty="0">
                <a:effectLst/>
                <a:ea typeface="Malgun Gothic" panose="020B0503020000020004" pitchFamily="34" charset="-127"/>
              </a:rPr>
              <a:t> ( </a:t>
            </a:r>
            <a:r>
              <a:rPr lang="en-US" dirty="0" err="1">
                <a:effectLst/>
                <a:ea typeface="Malgun Gothic" panose="020B0503020000020004" pitchFamily="34" charset="-127"/>
              </a:rPr>
              <a:t>th</a:t>
            </a:r>
            <a:r>
              <a:rPr lang="vi-VN" dirty="0">
                <a:effectLst/>
                <a:ea typeface="Malgun Gothic" panose="020B0503020000020004" pitchFamily="34" charset="-127"/>
              </a:rPr>
              <a:t>ời gian ngắn không thể train được nhiều )</a:t>
            </a:r>
            <a:r>
              <a:rPr lang="en-US" dirty="0">
                <a:effectLst/>
                <a:ea typeface="Malgun Gothic" panose="020B0503020000020004" pitchFamily="34" charset="-127"/>
              </a:rPr>
              <a:t>.</a:t>
            </a:r>
          </a:p>
          <a:p>
            <a:r>
              <a:rPr lang="en-US" dirty="0">
                <a:effectLst/>
                <a:ea typeface="MS Mincho" panose="02020609040205080304" pitchFamily="49" charset="-128"/>
              </a:rPr>
              <a:t>n8n </a:t>
            </a:r>
            <a:r>
              <a:rPr lang="en-US" dirty="0" err="1">
                <a:effectLst/>
                <a:ea typeface="MS Mincho" panose="02020609040205080304" pitchFamily="49" charset="-128"/>
              </a:rPr>
              <a:t>để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điều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phối</a:t>
            </a:r>
            <a:r>
              <a:rPr lang="en-US" dirty="0">
                <a:effectLst/>
                <a:ea typeface="MS Mincho" panose="02020609040205080304" pitchFamily="49" charset="-128"/>
              </a:rPr>
              <a:t> workflow </a:t>
            </a:r>
            <a:r>
              <a:rPr lang="en-US" dirty="0" err="1">
                <a:effectLst/>
                <a:ea typeface="MS Mincho" panose="02020609040205080304" pitchFamily="49" charset="-128"/>
              </a:rPr>
              <a:t>và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tích</a:t>
            </a:r>
            <a:r>
              <a:rPr lang="en-US" dirty="0">
                <a:effectLst/>
                <a:ea typeface="MS Mincho" panose="02020609040205080304" pitchFamily="49" charset="-128"/>
              </a:rPr>
              <a:t> </a:t>
            </a:r>
            <a:r>
              <a:rPr lang="en-US" dirty="0" err="1">
                <a:effectLst/>
                <a:ea typeface="MS Mincho" panose="02020609040205080304" pitchFamily="49" charset="-128"/>
              </a:rPr>
              <a:t>hợp</a:t>
            </a:r>
            <a:r>
              <a:rPr lang="en-US" dirty="0">
                <a:effectLst/>
                <a:ea typeface="MS Mincho" panose="02020609040205080304" pitchFamily="49" charset="-128"/>
              </a:rPr>
              <a:t> API.</a:t>
            </a:r>
          </a:p>
          <a:p>
            <a:r>
              <a:rPr lang="en-US" dirty="0" err="1">
                <a:ea typeface="MS Mincho" panose="02020609040205080304" pitchFamily="49" charset="-128"/>
              </a:rPr>
              <a:t>OpenClaw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hỗ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trợ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nhận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diện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quy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trình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và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thực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hiện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hỗ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trợ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cập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nhật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dữ</a:t>
            </a:r>
            <a:r>
              <a:rPr lang="en-US" dirty="0">
                <a:ea typeface="MS Mincho" panose="02020609040205080304" pitchFamily="49" charset="-128"/>
              </a:rPr>
              <a:t> </a:t>
            </a:r>
            <a:r>
              <a:rPr lang="en-US" dirty="0" err="1">
                <a:ea typeface="MS Mincho" panose="02020609040205080304" pitchFamily="49" charset="-128"/>
              </a:rPr>
              <a:t>liệu</a:t>
            </a:r>
            <a:r>
              <a:rPr lang="en-US" dirty="0">
                <a:ea typeface="MS Mincho" panose="02020609040205080304" pitchFamily="49" charset="-128"/>
              </a:rPr>
              <a:t>.</a:t>
            </a:r>
            <a:endParaRPr lang="en-US" dirty="0">
              <a:effectLst/>
              <a:ea typeface="MS Mincho" panose="02020609040205080304" pitchFamily="49" charset="-128"/>
            </a:endParaRP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899973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0FBD-9D68-46EF-80FD-7DA0BC74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E177-02E3-4072-8338-E3B4B8B0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nghĩa</a:t>
            </a:r>
            <a:r>
              <a:rPr lang="en-US" b="1" dirty="0"/>
              <a:t> </a:t>
            </a:r>
            <a:r>
              <a:rPr lang="en-US" b="1" dirty="0" err="1"/>
              <a:t>đầu</a:t>
            </a:r>
            <a:r>
              <a:rPr lang="en-US" b="1" dirty="0"/>
              <a:t> </a:t>
            </a:r>
            <a:r>
              <a:rPr lang="en-US" b="1" dirty="0" err="1"/>
              <a:t>vào</a:t>
            </a:r>
            <a:endParaRPr lang="en-US" b="1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vi-VN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Đầu vào bao gồm câu hỏi người dùng và dữ liệu thị trường như ROE, RSI, giá cổ phiếu và xu hướng.</a:t>
            </a:r>
            <a:endParaRPr lang="en-US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vi-VN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Calibri" panose="020F0502020204030204" pitchFamily="34" charset="0"/>
              </a:rPr>
              <a:t>Người dùng có thể đặt câu hỏi kỹ hơn bao gồm các yếu tố như budget, xu hướng,</a:t>
            </a:r>
            <a:r>
              <a:rPr lang="en-US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Calibri" panose="020F0502020204030204" pitchFamily="34" charset="0"/>
              </a:rPr>
              <a:t> </a:t>
            </a:r>
            <a:r>
              <a:rPr lang="vi-VN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Calibri" panose="020F0502020204030204" pitchFamily="34" charset="0"/>
              </a:rPr>
              <a:t>muốn an toàn hay không, hỏi giá,</a:t>
            </a:r>
            <a:r>
              <a:rPr lang="en-US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Calibri" panose="020F0502020204030204" pitchFamily="34" charset="0"/>
              </a:rPr>
              <a:t> </a:t>
            </a:r>
            <a:r>
              <a:rPr lang="vi-VN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Calibri" panose="020F0502020204030204" pitchFamily="34" charset="0"/>
              </a:rPr>
              <a:t>thông tin tài chính của 1 hay nhiều cổ phiếu và yêu cầu chatbot phân tích.</a:t>
            </a:r>
            <a:endParaRPr lang="en-US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037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0FBD-9D68-46EF-80FD-7DA0BC74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E177-02E3-4072-8338-E3B4B8B0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nghĩa</a:t>
            </a:r>
            <a:r>
              <a:rPr lang="en-US" b="1" dirty="0"/>
              <a:t> </a:t>
            </a:r>
            <a:r>
              <a:rPr lang="en-US" b="1" dirty="0" err="1"/>
              <a:t>đầu</a:t>
            </a:r>
            <a:r>
              <a:rPr lang="en-US" b="1" dirty="0"/>
              <a:t> ra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vi-VN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Calibri" panose="020F0502020204030204" pitchFamily="34" charset="0"/>
              </a:rPr>
              <a:t>Đầu ra là câu trả lời cơ bản về các thông tin tài chính như một Chatbot bình thường.</a:t>
            </a:r>
            <a:endParaRPr lang="en-US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vi-VN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Đầu ra là khuyến nghị đầu tư (MUA/GIỮ/CHỜ) kèm theo giải thích dựa trên các chỉ số tài chính và cảnh báo rủi ro.</a:t>
            </a:r>
            <a:r>
              <a:rPr lang="vi-VN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Calibri" panose="020F0502020204030204" pitchFamily="34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99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5D3F-D234-49F8-B2B1-4494A6B9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pic>
        <p:nvPicPr>
          <p:cNvPr id="4" name="Picture 3" descr="A diagram of a computer&#10;&#10;Description automatically generated">
            <a:extLst>
              <a:ext uri="{FF2B5EF4-FFF2-40B4-BE49-F238E27FC236}">
                <a16:creationId xmlns:a16="http://schemas.microsoft.com/office/drawing/2014/main" id="{3083B8C2-76A7-4EE8-9C8F-020F3462179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973" y="1823674"/>
            <a:ext cx="7426053" cy="398929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A26239-ABA4-42D4-AD3A-2AF954ED48EE}"/>
              </a:ext>
            </a:extLst>
          </p:cNvPr>
          <p:cNvSpPr txBox="1"/>
          <p:nvPr/>
        </p:nvSpPr>
        <p:spPr>
          <a:xfrm>
            <a:off x="4718956" y="5889171"/>
            <a:ext cx="275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Sơ</a:t>
            </a:r>
            <a:r>
              <a:rPr lang="en-US" i="1" dirty="0"/>
              <a:t> </a:t>
            </a:r>
            <a:r>
              <a:rPr lang="en-US" i="1" dirty="0" err="1"/>
              <a:t>đồ</a:t>
            </a:r>
            <a:r>
              <a:rPr lang="en-US" i="1" dirty="0"/>
              <a:t> </a:t>
            </a:r>
            <a:r>
              <a:rPr lang="en-US" i="1" dirty="0" err="1"/>
              <a:t>minh</a:t>
            </a:r>
            <a:r>
              <a:rPr lang="en-US" i="1" dirty="0"/>
              <a:t> </a:t>
            </a:r>
            <a:r>
              <a:rPr lang="en-US" i="1" dirty="0" err="1"/>
              <a:t>họa</a:t>
            </a:r>
            <a:r>
              <a:rPr lang="en-US" i="1" dirty="0"/>
              <a:t> </a:t>
            </a:r>
            <a:r>
              <a:rPr lang="en-US" i="1" dirty="0" err="1"/>
              <a:t>hệ</a:t>
            </a:r>
            <a:r>
              <a:rPr lang="en-US" i="1" dirty="0"/>
              <a:t> </a:t>
            </a:r>
            <a:r>
              <a:rPr lang="en-US" i="1" dirty="0" err="1"/>
              <a:t>thống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07942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D2D9-372D-4E0E-86F1-10F3A558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18F1-FB4E-41D9-B882-F40E96283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tái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khảo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 (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ưu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57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D2D9-372D-4E0E-86F1-10F3A558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18F1-FB4E-41D9-B882-F40E96283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nghệ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endParaRPr lang="en-US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 err="1">
                <a:effectLst/>
                <a:ea typeface="Calibri" panose="020F0502020204030204" pitchFamily="34" charset="0"/>
              </a:rPr>
              <a:t>OpenBB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được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sử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dụng</a:t>
            </a:r>
            <a:r>
              <a:rPr lang="en-US" dirty="0">
                <a:effectLst/>
                <a:ea typeface="Calibri" panose="020F0502020204030204" pitchFamily="34" charset="0"/>
              </a:rPr>
              <a:t> ở </a:t>
            </a:r>
            <a:r>
              <a:rPr lang="en-US" dirty="0" err="1">
                <a:effectLst/>
                <a:ea typeface="Calibri" panose="020F0502020204030204" pitchFamily="34" charset="0"/>
              </a:rPr>
              <a:t>lớp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dữ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liệu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và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phân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tích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tài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chính</a:t>
            </a:r>
            <a:r>
              <a:rPr lang="en-US" dirty="0">
                <a:effectLst/>
                <a:ea typeface="Calibri" panose="020F050202020403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 err="1">
                <a:effectLst/>
                <a:ea typeface="Calibri" panose="020F0502020204030204" pitchFamily="34" charset="0"/>
              </a:rPr>
              <a:t>MLflow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được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sử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dụng</a:t>
            </a:r>
            <a:r>
              <a:rPr lang="en-US" dirty="0">
                <a:effectLst/>
                <a:ea typeface="Calibri" panose="020F0502020204030204" pitchFamily="34" charset="0"/>
              </a:rPr>
              <a:t> ở </a:t>
            </a:r>
            <a:r>
              <a:rPr lang="en-US" dirty="0" err="1">
                <a:effectLst/>
                <a:ea typeface="Calibri" panose="020F0502020204030204" pitchFamily="34" charset="0"/>
              </a:rPr>
              <a:t>lớp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quản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trị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mô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</a:rPr>
              <a:t>hình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182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D2D9-372D-4E0E-86F1-10F3A558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18F1-FB4E-41D9-B882-F40E96283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vi </a:t>
            </a:r>
            <a:r>
              <a:rPr lang="en-US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endParaRPr lang="en-US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ữ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enchmark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chiếu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gưỡng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chấp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rủi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hời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nắm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giữ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bổ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06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D2D9-372D-4E0E-86F1-10F3A558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18F1-FB4E-41D9-B882-F40E96283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nghĩa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ra</a:t>
            </a:r>
            <a:endParaRPr lang="en-US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ữ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enchmark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chiếu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gưỡng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chấp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rủi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hời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nắm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giữ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bổ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450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5D3F-D234-49F8-B2B1-4494A6B9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</a:p>
        </p:txBody>
      </p:sp>
      <p:pic>
        <p:nvPicPr>
          <p:cNvPr id="6" name="Picture 5" descr="A group of black and white signs&#10;&#10;Description automatically generated with medium confidence">
            <a:extLst>
              <a:ext uri="{FF2B5EF4-FFF2-40B4-BE49-F238E27FC236}">
                <a16:creationId xmlns:a16="http://schemas.microsoft.com/office/drawing/2014/main" id="{8EF6AD65-9909-4956-832E-B2E3BB16BF8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74" y="2009185"/>
            <a:ext cx="11897451" cy="33030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796372-D7B7-4438-9F24-44CDED5308F9}"/>
              </a:ext>
            </a:extLst>
          </p:cNvPr>
          <p:cNvSpPr txBox="1"/>
          <p:nvPr/>
        </p:nvSpPr>
        <p:spPr>
          <a:xfrm>
            <a:off x="4065813" y="5611766"/>
            <a:ext cx="406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35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5D3F-D234-49F8-B2B1-4494A6B9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F91C2A-CD3E-492A-9C44-A4A6590C1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Tận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Hiểu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rõ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á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chatbot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Microservices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39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88498-7BCA-473F-845D-4E56A2D6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OpenClaw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DC8C0-89C4-4270-B250-3F51718A9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33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2001</Words>
  <Application>Microsoft Office PowerPoint</Application>
  <PresentationFormat>Widescreen</PresentationFormat>
  <Paragraphs>169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Báo cáo tiến độ nghiên cứu đề tài</vt:lpstr>
      <vt:lpstr>Mục tiêu tiến độ tuần này</vt:lpstr>
      <vt:lpstr>Quy trình đề xuất</vt:lpstr>
      <vt:lpstr>Các kịch bản quy trình đề xuất</vt:lpstr>
      <vt:lpstr>Chấm điểm cổ phiếu</vt:lpstr>
      <vt:lpstr>Chấm điểm cổ phiếu</vt:lpstr>
      <vt:lpstr>Chấm điểm cổ phiếu</vt:lpstr>
      <vt:lpstr>Chấm điểm cổ phiếu</vt:lpstr>
      <vt:lpstr>Hỗ trợ phân tích cơ bản tư vấn đầu tư cho người dùng</vt:lpstr>
      <vt:lpstr>Hỗ trợ phân tích cơ bản tư vấn đầu tư cho người dùng</vt:lpstr>
      <vt:lpstr>Hỗ trợ phân tích cơ bản tư vấn đầu tư cho người dùng</vt:lpstr>
      <vt:lpstr>Hỗ trợ phân tích cơ bản tư vấn đầu tư cho người dùng</vt:lpstr>
      <vt:lpstr>Hỗ trợ phân tích cơ bản tư vấn đầu tư cho người dùng</vt:lpstr>
      <vt:lpstr>Xây dựng hệ thống hỗ trợ phân tích đầu tư danh mục </vt:lpstr>
      <vt:lpstr>Xây dựng hệ thống hỗ trợ phân tích đầu tư danh mục </vt:lpstr>
      <vt:lpstr>Xây dựng hệ thống hỗ trợ phân tích đầu tư danh mục </vt:lpstr>
      <vt:lpstr>Xây dựng hệ thống hỗ trợ phân tích đầu tư danh mục </vt:lpstr>
      <vt:lpstr>Xây dựng hệ thống hỗ trợ phân tích đầu tư danh mục </vt:lpstr>
      <vt:lpstr>Tổng kết phương pháp luận quy trình</vt:lpstr>
      <vt:lpstr>Làm quen OpenClaw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nghiên cứu đề tài</dc:title>
  <dc:creator>Lâm Quang Khôi</dc:creator>
  <cp:lastModifiedBy>Lâm Quang Khôi</cp:lastModifiedBy>
  <cp:revision>9</cp:revision>
  <dcterms:created xsi:type="dcterms:W3CDTF">2026-03-21T16:38:39Z</dcterms:created>
  <dcterms:modified xsi:type="dcterms:W3CDTF">2026-03-22T14:14:05Z</dcterms:modified>
</cp:coreProperties>
</file>